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FB4DA"/>
                </a:solidFill>
                <a:latin typeface="Segoe UI"/>
              </a:rPr>
              <a:t>VALENTISOFT  ·  SaaS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Vacuum Control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0">
                <a:solidFill>
                  <a:srgbClr val="C7D6E8"/>
                </a:solidFill>
                <a:latin typeface="Segoe UI"/>
              </a:rPr>
              <a:t>QR-based housekeeping equipment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B6C6DA"/>
                </a:solidFill>
                <a:latin typeface="Segoe UI"/>
              </a:rPr>
              <a:t>Housekeepers report the status of every vacuum by scanning a QR code —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B6C6DA"/>
                </a:solidFill>
                <a:latin typeface="Segoe UI"/>
              </a:rPr>
              <a:t>no apps, no logins. Admins get automatic KPIs and reports.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105156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Client: MasterCorp   ·   mastercorp.valentisoft.com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The challenge: reporting and tracking equipment is scattered and manual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566160" cy="12801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F2A37"/>
                </a:solidFill>
                <a:latin typeface="Segoe UI"/>
              </a:rPr>
              <a:t>Manual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The housekeeper reports verbally or on paper when a vacuum fails. It gets lost, forgotten, or reaches maintenance 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73736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737360"/>
            <a:ext cx="3566160" cy="12801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05740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F2A37"/>
                </a:solidFill>
                <a:latin typeface="Segoe UI"/>
              </a:rPr>
              <a:t>No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9748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The supervisor has no real-time view of which equipment is operational, faulty, or out of service at each site.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73736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4" y="1737360"/>
            <a:ext cx="3566160" cy="12801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205740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F2A37"/>
                </a:solidFill>
                <a:latin typeface="Segoe UI"/>
              </a:rPr>
              <a:t>Reports by hand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69748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Consolidating the day's status and putting together the email for management is time-consuming and error-prone.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F2A37"/>
                </a:solidFill>
                <a:latin typeface="Segoe UI"/>
              </a:rPr>
              <a:t>The result: </a:t>
            </a:r>
            <a:r>
              <a:rPr sz="1700" b="0">
                <a:solidFill>
                  <a:srgbClr val="1F2A37"/>
                </a:solidFill>
                <a:latin typeface="Segoe UI"/>
              </a:rPr>
              <a:t>equipment down longer, decisions made blind, and man-hours wasted on repetitive administrative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A simple flow: scan → report → visualize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60A8"/>
                </a:solidFill>
                <a:latin typeface="Segoe UI"/>
              </a:rPr>
              <a:t>QR on every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22860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Each vacuum carries a QR sticker with its code (VAC-001…). Generated and printed from the panel.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73552" y="3063240"/>
            <a:ext cx="256032" cy="256032"/>
          </a:xfrm>
          <a:prstGeom prst="rightArrow">
            <a:avLst/>
          </a:prstGeom>
          <a:solidFill>
            <a:srgbClr val="B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66160" y="2057400"/>
            <a:ext cx="640080" cy="64008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60A8"/>
                </a:solidFill>
                <a:latin typeface="Segoe UI"/>
              </a:rPr>
              <a:t>The housekeeper scans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429000"/>
            <a:ext cx="22860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Opens a web page (no app, no login), picks their name and the equipment status. 30 seconds.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62472" y="3063240"/>
            <a:ext cx="256032" cy="256032"/>
          </a:xfrm>
          <a:prstGeom prst="rightArrow">
            <a:avLst/>
          </a:prstGeom>
          <a:solidFill>
            <a:srgbClr val="B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18288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80" y="2057400"/>
            <a:ext cx="640080" cy="64008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8036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60A8"/>
                </a:solidFill>
                <a:latin typeface="Segoe UI"/>
              </a:rPr>
              <a:t>Logged instantly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429000"/>
            <a:ext cx="22860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The report is saved with time, employee and site. It feeds the KPIs automatically.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51392" y="3063240"/>
            <a:ext cx="256032" cy="256032"/>
          </a:xfrm>
          <a:prstGeom prst="rightArrow">
            <a:avLst/>
          </a:prstGeom>
          <a:solidFill>
            <a:srgbClr val="B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15400" y="18288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2057400"/>
            <a:ext cx="640080" cy="64008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88036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60A8"/>
                </a:solidFill>
                <a:latin typeface="Segoe UI"/>
              </a:rPr>
              <a:t>The admin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429000"/>
            <a:ext cx="22860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Dashboard with status distribution, most-reported units and an automatic daily email to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F2A37"/>
                </a:solidFill>
                <a:latin typeface="Segoe UI"/>
              </a:rPr>
              <a:t>Multi-site and multi-client: </a:t>
            </a:r>
            <a:r>
              <a:rPr sz="1600" b="0">
                <a:solidFill>
                  <a:srgbClr val="1F2A37"/>
                </a:solidFill>
                <a:latin typeface="Segoe UI"/>
              </a:rPr>
              <a:t>each company gets its own subdomain (mastercorp.valentisoft.com) and each site its own equipment, QRs and KPIs.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Sites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The central view of all the client's sites, each with its equipment count and its recipients.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42062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List of sites with their code, number of vacuums and report recipients.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3 shortcuts per row: ⚙ configure · 📊 KPIs · ▦ QR codes.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Each site has a unique slug used in the public URLs (/XjUS3/…).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Responsive: adapts to mobile by hiding secondary columns.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2461" y="1574480"/>
            <a:ext cx="4437157" cy="49377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admin-si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461" y="1554480"/>
            <a:ext cx="4437157" cy="493776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Configure a site and its 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This is where you set the site code, the recipients' emails (CC) and its vacuums.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42062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Edit code and recipients (email validation with an example if wrong).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Add vacuums: numbered automatically (VAC-001, 002…).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Confirmation before creating equipment to avoid mistakes.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Shortcuts to the site's QR codes and Dashboard.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75346" y="1574480"/>
            <a:ext cx="2331387" cy="49377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site-conf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346" y="1554480"/>
            <a:ext cx="2331387" cy="493776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QR code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Generates each unit's QR with the client's logo in the center, ready to print and stick.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42062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One QR per unit with the public URL ready to scan.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Download one QR (PNG) or ALL of the site's in a printable PDF sheet.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Fixed housekeeping-room QR to report 'equipment unavailable'.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Copy-URL button and bilingual interface (EN/ES).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7778" y="1574480"/>
            <a:ext cx="2226523" cy="49377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qr-genera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778" y="1554480"/>
            <a:ext cx="2226523" cy="493776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Per-site 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Real-time indicators: status distribution, most-reported units and availability.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42062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Status donut: Operational / With faults / Out of service / Unavailable.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Ranking of most-reported units and availability %.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Daily / Weekly / Monthly selector with a trend chart.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Button to download the report as PDF.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7778" y="1574480"/>
            <a:ext cx="2226523" cy="49377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kpi-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778" y="1554480"/>
            <a:ext cx="2226523" cy="493776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Report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Every check-in with employee, unit, time/date, status and note. Full traceability.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42062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Detail table with the record of every report in the period.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Daily shows the time; weekly/monthly, the date.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Separate 'equipment unavailable' section.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Everything feeds the automatic daily email to recipients.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41160" y="1574480"/>
            <a:ext cx="2199760" cy="49377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-kpi-det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160" y="1554480"/>
            <a:ext cx="2199760" cy="493776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HOUSEKEEPER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Scan a unit (no login)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What the housekeeper sees when scanning a vacuum's QR. Simple, in their language, nothing to install.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42062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Scan with the phone camera (iPhone or Android).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See the client's branding and the unit (Vacuum · VAC-001).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One button: 'Report'. EN/ES language switch.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Works in any mobile browser.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0593" y="1574480"/>
            <a:ext cx="4200894" cy="49377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-equipment-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593" y="1554480"/>
            <a:ext cx="4200894" cy="493776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HOUSEKEEPER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Report equipment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A 30-second form: who is reporting, what state the unit is in, and an optional note.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42062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Employee autocomplete (pick your name from the list).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3 color-coded states: Operational · With faults · Out of service.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Optional note and photos when there is a problem.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On submit, the record feeds the KPIs instantly.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7426" y="1574480"/>
            <a:ext cx="2227227" cy="49377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-report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426" y="1554480"/>
            <a:ext cx="2227227" cy="493776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HOUSEKEEPER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Report 'equipment unavailable'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A fixed QR in the housekeeping room to flag when NO vacuum is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42062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Fixed QR posted in the room (not tied to a unit).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The housekeeper scans and reports the shortage.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Useful to detect equipment shortages per shift/floor.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Counted separately in the dashboard.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42571" y="1574480"/>
            <a:ext cx="4596938" cy="49377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-housekeeping-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571" y="1554480"/>
            <a:ext cx="4596938" cy="493776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HOUSEKEEPER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Equipment-unavailable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Employee, equipment type and comment. As simple as the status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42062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Employee autocomplete.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Equipment type (Vacuum) pre-selected.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Optional comment (e.g. 'no vacuums on floor 3').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Recorded with time and site.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7426" y="1574480"/>
            <a:ext cx="2227227" cy="49377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-housekeeping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426" y="1554480"/>
            <a:ext cx="2227227" cy="493776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8FB4DA"/>
                </a:solidFill>
                <a:latin typeface="Segoe UI"/>
              </a:rPr>
              <a:t>THE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Man-hour savings and faster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14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5AC88A"/>
                </a:solidFill>
                <a:latin typeface="Segoe UI"/>
              </a:rPr>
              <a:t>~90%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less time per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3108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B6C6DA"/>
                </a:solidFill>
                <a:latin typeface="Segoe UI"/>
              </a:rPr>
              <a:t>From ~7 min (paper + manual entry)
to ~30 sec scanning a QR.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0020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14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874519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5AC88A"/>
                </a:solidFill>
                <a:latin typeface="Segoe UI"/>
              </a:rPr>
              <a:t>~40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6974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per site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200400"/>
            <a:ext cx="3108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B6C6DA"/>
                </a:solidFill>
                <a:latin typeface="Segoe UI"/>
              </a:rPr>
              <a:t>The daily report is no longer built by hand:
it is generated and sent on its own at 10 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60020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14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874519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5AC88A"/>
                </a:solidFill>
                <a:latin typeface="Segoe UI"/>
              </a:rPr>
              <a:t>~48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6974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saved per site per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3200400"/>
            <a:ext cx="3108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B6C6DA"/>
                </a:solidFill>
                <a:latin typeface="Segoe UI"/>
              </a:rPr>
              <a:t>Adding up reports + consolidation.
With 5 sites: ~240 h/month (~30 man-days).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Plus value that is hard to measure in hours: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10642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5AC88A"/>
                </a:solidFill>
                <a:latin typeface="Segoe UI"/>
              </a:rPr>
              <a:t>•  </a:t>
            </a:r>
            <a:r>
              <a:rPr sz="1300" b="0">
                <a:solidFill>
                  <a:srgbClr val="C7D6E8"/>
                </a:solidFill>
                <a:latin typeface="Segoe UI"/>
              </a:rPr>
              <a:t>Faster maintenance: faulty equipment is detected instantly, not at the end of the shift.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5AC88A"/>
                </a:solidFill>
                <a:latin typeface="Segoe UI"/>
              </a:rPr>
              <a:t>•  </a:t>
            </a:r>
            <a:r>
              <a:rPr sz="1300" b="0">
                <a:solidFill>
                  <a:srgbClr val="C7D6E8"/>
                </a:solidFill>
                <a:latin typeface="Segoe UI"/>
              </a:rPr>
              <a:t>Data-driven decisions: real-time visibility of availability per site.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5AC88A"/>
                </a:solidFill>
                <a:latin typeface="Segoe UI"/>
              </a:rPr>
              <a:t>•  </a:t>
            </a:r>
            <a:r>
              <a:rPr sz="1300" b="0">
                <a:solidFill>
                  <a:srgbClr val="C7D6E8"/>
                </a:solidFill>
                <a:latin typeface="Segoe UI"/>
              </a:rPr>
              <a:t>Fewer errors: no lost paper and no manual transcription.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5AC88A"/>
                </a:solidFill>
                <a:latin typeface="Segoe UI"/>
              </a:rPr>
              <a:t>•  </a:t>
            </a:r>
            <a:r>
              <a:rPr sz="1300" b="0">
                <a:solidFill>
                  <a:srgbClr val="C7D6E8"/>
                </a:solidFill>
                <a:latin typeface="Segoe UI"/>
              </a:rPr>
              <a:t>Scales with no extra management cost: adding sites or equipment is immediate.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Illustrative estimates based on a typical manual process; they vary with volume and operation.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Why Vacuum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28016" cy="123444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60A8"/>
                </a:solidFill>
                <a:latin typeface="Segoe UI"/>
              </a:rPr>
              <a:t>Zero friction for the operator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8463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No apps, no logins: scan and report in seconds, in their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128016" cy="123444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2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60A8"/>
                </a:solidFill>
                <a:latin typeface="Segoe UI"/>
              </a:rPr>
              <a:t>Real-time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04288"/>
            <a:ext cx="48463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Per-site KPIs, an automatic daily email and full traceability.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5468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128016" cy="123444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60A8"/>
                </a:solidFill>
                <a:latin typeface="Segoe UI"/>
              </a:rPr>
              <a:t>Multi-site and multi-client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21608"/>
            <a:ext cx="48463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One subdomain per company, unlimited sites, each with its own equipment.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5468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154680"/>
            <a:ext cx="128016" cy="123444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60A8"/>
                </a:solidFill>
                <a:latin typeface="Segoe UI"/>
              </a:rPr>
              <a:t>Secure and self-service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21608"/>
            <a:ext cx="48463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Encrypted passwords, code-based recovery, admin roles.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128016" cy="123444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0916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60A8"/>
                </a:solidFill>
                <a:latin typeface="Segoe UI"/>
              </a:rPr>
              <a:t>Print-ready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38928"/>
            <a:ext cx="48463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QRs with the client's branding, PDF sheets and a fixed housekeeping QR.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57200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572000"/>
            <a:ext cx="128016" cy="123444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70916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560A8"/>
                </a:solidFill>
                <a:latin typeface="Segoe UI"/>
              </a:rPr>
              <a:t>Measurable savings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138928"/>
            <a:ext cx="48463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Fewer man-hours on reporting and consolidation; faster maintenance.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ACCESS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Secure per-client sign-in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Each client signs in through its subdomain with its own branding. Encrypted passwords (PBKDF2) and a persistent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42062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The admin opens mastercorp.valentisoft.com and sees the login with their company logo.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Enters email and password; long session (does not expire in normal use).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Admin roles at the tenant level (e.g. Chris David, Ramces Rodriguez).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Session invalidated when the password changes (account protection).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17040" y="1574480"/>
            <a:ext cx="3647999" cy="49377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040" y="1554480"/>
            <a:ext cx="3647999" cy="493776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ACCESS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F30"/>
                </a:solidFill>
                <a:latin typeface="Segoe UI"/>
              </a:rPr>
              <a:t>Password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If an admin forgets their password, they recover it on their own, without relying on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42062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'Forgot password?' → enter your email.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Receive a 6-digit code by email (expires in 15 min).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Enter the code and set the new password.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560A8"/>
                </a:solidFill>
                <a:latin typeface="Segoe UI"/>
              </a:rPr>
              <a:t>•  </a:t>
            </a:r>
            <a:r>
              <a:rPr sz="1400" b="0">
                <a:solidFill>
                  <a:srgbClr val="1F2A37"/>
                </a:solidFill>
                <a:latin typeface="Segoe UI"/>
              </a:rPr>
              <a:t>Per-IP rate limiting against brute force; does not reveal whether the email exists.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15190" y="1574480"/>
            <a:ext cx="4451699" cy="493776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-forg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190" y="1554480"/>
            <a:ext cx="4451699" cy="493776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